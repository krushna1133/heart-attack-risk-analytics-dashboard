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power-bi/" TargetMode="External"/><Relationship Id="rId2" Type="http://schemas.openxmlformats.org/officeDocument/2006/relationships/hyperlink" Target="https://www.kaggle.com/datasets/iamsouravbanerjee/heart-attack-prediction-dataset?utm_source=chatgpt.com" TargetMode="External"/><Relationship Id="rId1" Type="http://schemas.openxmlformats.org/officeDocument/2006/relationships/slideLayout" Target="../slideLayouts/slideLayout3.xml"/><Relationship Id="rId4" Type="http://schemas.openxmlformats.org/officeDocument/2006/relationships/hyperlink" Target="https://github.com/krushna1133/Heart-Attack-Risk-Analytics-Dashboard"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115629" y="-635"/>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224656"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5856" y="1056334"/>
            <a:ext cx="4746772" cy="250676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br>
              <a:rPr lang="en-US" sz="5100" b="1" dirty="0"/>
            </a:br>
            <a:r>
              <a:rPr lang="en-US" sz="5400" dirty="0"/>
              <a:t>HEART  ATTACK RISK  ANALYSIS DASHBOARD</a:t>
            </a:r>
            <a:endParaRPr lang="en-US" sz="5100" b="1" kern="1200" dirty="0"/>
          </a:p>
        </p:txBody>
      </p:sp>
      <p:sp>
        <p:nvSpPr>
          <p:cNvPr id="5" name="Subtitle 2"/>
          <p:cNvSpPr>
            <a:spLocks noGrp="1"/>
          </p:cNvSpPr>
          <p:nvPr/>
        </p:nvSpPr>
        <p:spPr>
          <a:xfrm>
            <a:off x="594127" y="3739889"/>
            <a:ext cx="4882942" cy="240898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Krushna Vitthal Rathod</a:t>
            </a:r>
          </a:p>
          <a:p>
            <a:pPr algn="l">
              <a:spcAft>
                <a:spcPts val="600"/>
              </a:spcAft>
            </a:pPr>
            <a:r>
              <a:rPr lang="en-US" sz="1600" b="1" cap="all" dirty="0"/>
              <a:t>College Name: Yeshwantrao Chavan College of Engineering</a:t>
            </a:r>
          </a:p>
          <a:p>
            <a:pPr algn="l">
              <a:spcAft>
                <a:spcPts val="600"/>
              </a:spcAft>
            </a:pPr>
            <a:r>
              <a:rPr lang="en-US" sz="1600" b="1" cap="all" dirty="0"/>
              <a:t>Department: AI &amp; Data science</a:t>
            </a:r>
          </a:p>
          <a:p>
            <a:pPr algn="l">
              <a:spcAft>
                <a:spcPts val="600"/>
              </a:spcAft>
            </a:pPr>
            <a:r>
              <a:rPr lang="en-US" sz="1600" b="1" cap="all" dirty="0"/>
              <a:t>Email ID: </a:t>
            </a:r>
            <a:r>
              <a:rPr lang="en-US" sz="1600" b="1" dirty="0"/>
              <a:t>krushnarathod0077@gmail.com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D1F55110-D2EA-0FD0-F74B-96A9100EB0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3596" y="844824"/>
            <a:ext cx="3933825" cy="5057775"/>
          </a:xfrm>
          <a:prstGeom prst="roundRect">
            <a:avLst>
              <a:gd name="adj" fmla="val 4808"/>
            </a:avLst>
          </a:prstGeom>
          <a:ln>
            <a:noFill/>
          </a:ln>
          <a:effectLst>
            <a:outerShdw blurRad="292100" dist="139700" dir="2700000" algn="tl" rotWithShape="0">
              <a:srgbClr val="333333">
                <a:alpha val="65000"/>
              </a:srgbClr>
            </a:outerShdw>
          </a:effectLst>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1"/>
            <a:ext cx="10515600" cy="859712"/>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r>
              <a:rPr lang="en-US" sz="2200" dirty="0">
                <a:latin typeface="Arial" panose="020B0604020202020204"/>
                <a:cs typeface="Arial" panose="020B0604020202020204"/>
              </a:rPr>
              <a:t>(Should not include solution)</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(Technology Used)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738272" cy="4251960"/>
          </a:xfrm>
        </p:spPr>
        <p:txBody>
          <a:bodyPr vert="horz" lIns="91440" tIns="45720" rIns="91440" bIns="45720" rtlCol="0">
            <a:normAutofit/>
          </a:bodyPr>
          <a:lstStyle/>
          <a:p>
            <a:pPr algn="just"/>
            <a:r>
              <a:rPr lang="en-US" sz="2400" dirty="0"/>
              <a:t>Heart disease is one of the leading causes of death worldwide. Several factors such as age, lifestyle habits, cholesterol levels, blood pressure, and stress levels contribute to the risk of heart attacks.</a:t>
            </a:r>
          </a:p>
          <a:p>
            <a:pPr algn="just"/>
            <a:endParaRPr lang="en-US" sz="2400" dirty="0"/>
          </a:p>
          <a:p>
            <a:pPr algn="just"/>
            <a:r>
              <a:rPr lang="en-US" sz="2400" dirty="0"/>
              <a:t>Healthcare organizations collect large amounts of patient health data, but analyzing this data manually to identify risk patterns can be difficult and time-consuming.</a:t>
            </a:r>
          </a:p>
          <a:p>
            <a:pPr algn="just"/>
            <a:endParaRPr lang="en-US" sz="2400" dirty="0"/>
          </a:p>
          <a:p>
            <a:pPr algn="just"/>
            <a:r>
              <a:rPr lang="en-US" sz="2400" dirty="0"/>
              <a:t>There is a need for an interactive system that can analyze patient health data and visualize the relationships between different medical and lifestyle factors that contribute to heart attack risk.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5"/>
            <a:ext cx="11042974" cy="4863229"/>
          </a:xfrm>
        </p:spPr>
        <p:txBody>
          <a:bodyPr vert="horz" lIns="91440" tIns="45720" rIns="91440" bIns="45720" rtlCol="0" anchor="t">
            <a:noAutofit/>
          </a:bodyPr>
          <a:lstStyle/>
          <a:p>
            <a:pPr marL="0" indent="0" algn="just">
              <a:spcBef>
                <a:spcPct val="20000"/>
              </a:spcBef>
              <a:spcAft>
                <a:spcPts val="600"/>
              </a:spcAft>
              <a:buNone/>
            </a:pPr>
            <a:r>
              <a:rPr lang="en-US" sz="2400" dirty="0"/>
              <a:t>The proposed system develops a Heart Attack Risk Analysis Dashboard using Power BI to analyze patient health data and identify key risk factors.</a:t>
            </a:r>
          </a:p>
          <a:p>
            <a:pPr marL="0" indent="0" algn="just">
              <a:spcBef>
                <a:spcPct val="20000"/>
              </a:spcBef>
              <a:spcAft>
                <a:spcPts val="600"/>
              </a:spcAft>
              <a:buNone/>
            </a:pPr>
            <a:r>
              <a:rPr lang="en-US" sz="2400" dirty="0"/>
              <a:t>The system performs the following tasks:</a:t>
            </a:r>
          </a:p>
          <a:p>
            <a:pPr marL="305435" indent="-305435" algn="just">
              <a:spcBef>
                <a:spcPct val="20000"/>
              </a:spcBef>
              <a:spcAft>
                <a:spcPts val="600"/>
              </a:spcAft>
              <a:buFont typeface="Arial" panose="020B0604020202020204"/>
              <a:buChar char="•"/>
            </a:pPr>
            <a:r>
              <a:rPr lang="en-IN" sz="2400" b="1" dirty="0">
                <a:latin typeface="Calibri" panose="020F0502020204030204"/>
                <a:ea typeface="Calibri" panose="020F0502020204030204"/>
                <a:cs typeface="Calibri" panose="020F0502020204030204"/>
              </a:rPr>
              <a:t>Data Analysis: </a:t>
            </a:r>
            <a:r>
              <a:rPr lang="en-US" sz="2400" dirty="0"/>
              <a:t>Patient data including age, cholesterol, BMI, blood pressure, smoking habits, and stress levels are analyzed.</a:t>
            </a:r>
            <a:endParaRPr lang="en-IN" sz="2400" dirty="0">
              <a:latin typeface="Calibri" panose="020F0502020204030204"/>
              <a:ea typeface="Calibri" panose="020F0502020204030204"/>
              <a:cs typeface="Calibri" panose="020F0502020204030204"/>
            </a:endParaRPr>
          </a:p>
          <a:p>
            <a:pPr marL="305435" indent="-305435" algn="just">
              <a:spcBef>
                <a:spcPct val="20000"/>
              </a:spcBef>
              <a:spcAft>
                <a:spcPts val="600"/>
              </a:spcAft>
              <a:buFont typeface="Arial" panose="020B0604020202020204"/>
              <a:buChar char="•"/>
            </a:pPr>
            <a:r>
              <a:rPr lang="en-US" sz="2400" b="1" dirty="0"/>
              <a:t>Interactive Dashboard: </a:t>
            </a:r>
            <a:r>
              <a:rPr lang="en-US" sz="2400" dirty="0"/>
              <a:t>The system visualizes patient health information through charts, graphs, and dashboards.</a:t>
            </a:r>
            <a:endParaRPr lang="en-IN" sz="2400" dirty="0"/>
          </a:p>
          <a:p>
            <a:pPr marL="305435" indent="-305435" algn="just">
              <a:spcBef>
                <a:spcPct val="20000"/>
              </a:spcBef>
              <a:spcAft>
                <a:spcPts val="600"/>
              </a:spcAft>
              <a:buFont typeface="Arial" panose="020B0604020202020204"/>
              <a:buChar char="•"/>
            </a:pPr>
            <a:r>
              <a:rPr lang="en-US" sz="2400" b="1" dirty="0"/>
              <a:t>Risk Pattern Identification: </a:t>
            </a:r>
            <a:r>
              <a:rPr lang="en-US" sz="2400" dirty="0"/>
              <a:t>The dashboard highlights relationships between health factors and heart attack risk.</a:t>
            </a:r>
          </a:p>
          <a:p>
            <a:pPr marL="305435" indent="-305435" algn="just">
              <a:spcBef>
                <a:spcPct val="20000"/>
              </a:spcBef>
              <a:spcAft>
                <a:spcPts val="600"/>
              </a:spcAft>
              <a:buFont typeface="Arial" panose="020B0604020202020204"/>
              <a:buChar char="•"/>
            </a:pPr>
            <a:r>
              <a:rPr lang="en-US" sz="2400" b="1" dirty="0"/>
              <a:t>Decision Support: </a:t>
            </a:r>
            <a:r>
              <a:rPr lang="en-US" sz="2400" dirty="0"/>
              <a:t>The analysis helps researchers and healthcare analysts better understand patient health patterns.</a:t>
            </a:r>
          </a:p>
          <a:p>
            <a:pPr marL="305435" indent="-305435" algn="just">
              <a:spcBef>
                <a:spcPct val="20000"/>
              </a:spcBef>
              <a:spcAft>
                <a:spcPts val="600"/>
              </a:spcAft>
              <a:buFont typeface="Arial" panose="020B0604020202020204"/>
              <a:buChar char="•"/>
            </a:pPr>
            <a:endParaRPr lang="en-GB"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261236" y="1362309"/>
            <a:ext cx="11327384" cy="2847083"/>
          </a:xfrm>
        </p:spPr>
        <p:txBody>
          <a:bodyPr vert="horz" lIns="91440" tIns="45720" rIns="91440" bIns="45720" rtlCol="0">
            <a:normAutofit/>
          </a:bodyPr>
          <a:lstStyle/>
          <a:p>
            <a:pPr marL="0" indent="0">
              <a:spcBef>
                <a:spcPct val="20000"/>
              </a:spcBef>
              <a:spcAft>
                <a:spcPts val="600"/>
              </a:spcAft>
              <a:buNone/>
            </a:pPr>
            <a:r>
              <a:rPr lang="en-US" sz="2400" dirty="0"/>
              <a:t>The project is developed using data visualization and analytics tools.</a:t>
            </a:r>
          </a:p>
          <a:p>
            <a:pPr>
              <a:spcBef>
                <a:spcPct val="20000"/>
              </a:spcBef>
              <a:spcAft>
                <a:spcPts val="600"/>
              </a:spcAft>
            </a:pPr>
            <a:r>
              <a:rPr lang="en-US" sz="2400" b="1" dirty="0"/>
              <a:t>Tools Used: </a:t>
            </a:r>
            <a:r>
              <a:rPr lang="en-US" sz="2400" dirty="0"/>
              <a:t>Power BI Desktop</a:t>
            </a:r>
          </a:p>
          <a:p>
            <a:r>
              <a:rPr lang="en-US" sz="2400" b="1" dirty="0"/>
              <a:t>Dataset Source: </a:t>
            </a:r>
            <a:r>
              <a:rPr lang="en-US" sz="2400" dirty="0"/>
              <a:t>Heart Attack Prediction Dataset obtained from Kaggle.</a:t>
            </a:r>
          </a:p>
          <a:p>
            <a:pPr marL="0" indent="0">
              <a:buNone/>
            </a:pPr>
            <a:endParaRPr lang="en-US" sz="1000" dirty="0"/>
          </a:p>
          <a:p>
            <a:pPr marL="0" indent="0">
              <a:buNone/>
            </a:pPr>
            <a:r>
              <a:rPr lang="en-US" sz="2400" dirty="0"/>
              <a:t>The dataset includes patient health attributes such as:</a:t>
            </a:r>
          </a:p>
          <a:p>
            <a:pPr marL="0" indent="0">
              <a:buNone/>
            </a:pPr>
            <a:endParaRPr lang="en-US" sz="2400" dirty="0"/>
          </a:p>
        </p:txBody>
      </p:sp>
      <p:sp>
        <p:nvSpPr>
          <p:cNvPr id="4" name="Content Placeholder 2">
            <a:extLst>
              <a:ext uri="{FF2B5EF4-FFF2-40B4-BE49-F238E27FC236}">
                <a16:creationId xmlns:a16="http://schemas.microsoft.com/office/drawing/2014/main" id="{86ADA811-A6FA-EEEB-808C-F56026D092AA}"/>
              </a:ext>
            </a:extLst>
          </p:cNvPr>
          <p:cNvSpPr txBox="1">
            <a:spLocks/>
          </p:cNvSpPr>
          <p:nvPr/>
        </p:nvSpPr>
        <p:spPr>
          <a:xfrm>
            <a:off x="7918412" y="3369711"/>
            <a:ext cx="4099416" cy="425196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200" b="1" dirty="0"/>
              <a:t>Data Processing: </a:t>
            </a:r>
            <a:endParaRPr lang="en-US" sz="2200" dirty="0"/>
          </a:p>
          <a:p>
            <a:pPr marL="0" indent="0" algn="just">
              <a:buNone/>
            </a:pPr>
            <a:r>
              <a:rPr lang="en-US" sz="2200" dirty="0"/>
              <a:t>The dataset is cleaned and prepared before analysis. This includes:</a:t>
            </a:r>
          </a:p>
          <a:p>
            <a:pPr algn="just"/>
            <a:r>
              <a:rPr lang="en-US" sz="2200" dirty="0"/>
              <a:t>Checking data types</a:t>
            </a:r>
          </a:p>
          <a:p>
            <a:pPr algn="just"/>
            <a:r>
              <a:rPr lang="en-US" sz="2200" dirty="0"/>
              <a:t>Creating calculated columns</a:t>
            </a:r>
          </a:p>
          <a:p>
            <a:pPr algn="just"/>
            <a:r>
              <a:rPr lang="en-US" sz="2200" dirty="0"/>
              <a:t>Creating DAX measures</a:t>
            </a:r>
          </a:p>
          <a:p>
            <a:pPr algn="just"/>
            <a:r>
              <a:rPr lang="en-US" sz="2200" dirty="0"/>
              <a:t>Removing inconsistencies</a:t>
            </a:r>
          </a:p>
        </p:txBody>
      </p:sp>
      <p:sp>
        <p:nvSpPr>
          <p:cNvPr id="5" name="Content Placeholder 2">
            <a:extLst>
              <a:ext uri="{FF2B5EF4-FFF2-40B4-BE49-F238E27FC236}">
                <a16:creationId xmlns:a16="http://schemas.microsoft.com/office/drawing/2014/main" id="{6D127FCC-C644-74BF-BBD9-4075D534BA9D}"/>
              </a:ext>
            </a:extLst>
          </p:cNvPr>
          <p:cNvSpPr txBox="1">
            <a:spLocks/>
          </p:cNvSpPr>
          <p:nvPr/>
        </p:nvSpPr>
        <p:spPr>
          <a:xfrm>
            <a:off x="2974717" y="3602898"/>
            <a:ext cx="2646794" cy="2534817"/>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Smoking</a:t>
            </a:r>
          </a:p>
          <a:p>
            <a:r>
              <a:rPr lang="en-US" sz="2000" dirty="0"/>
              <a:t>Exercise Hours</a:t>
            </a:r>
          </a:p>
          <a:p>
            <a:r>
              <a:rPr lang="en-US" sz="2000" dirty="0"/>
              <a:t>Sleep Hours</a:t>
            </a:r>
          </a:p>
          <a:p>
            <a:r>
              <a:rPr lang="en-US" sz="2000" dirty="0"/>
              <a:t>Stress Level</a:t>
            </a:r>
          </a:p>
          <a:p>
            <a:r>
              <a:rPr lang="en-US" sz="2000" dirty="0"/>
              <a:t>Heart Attack Risk Indicator</a:t>
            </a:r>
          </a:p>
        </p:txBody>
      </p:sp>
      <p:sp>
        <p:nvSpPr>
          <p:cNvPr id="6" name="Content Placeholder 2">
            <a:extLst>
              <a:ext uri="{FF2B5EF4-FFF2-40B4-BE49-F238E27FC236}">
                <a16:creationId xmlns:a16="http://schemas.microsoft.com/office/drawing/2014/main" id="{79774F9F-B001-6E58-9584-6E126F83B6AC}"/>
              </a:ext>
            </a:extLst>
          </p:cNvPr>
          <p:cNvSpPr txBox="1">
            <a:spLocks/>
          </p:cNvSpPr>
          <p:nvPr/>
        </p:nvSpPr>
        <p:spPr>
          <a:xfrm>
            <a:off x="399646" y="3676297"/>
            <a:ext cx="2436661" cy="1822931"/>
          </a:xfr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Age</a:t>
            </a:r>
          </a:p>
          <a:p>
            <a:r>
              <a:rPr lang="en-US" sz="2000" dirty="0"/>
              <a:t>Gender</a:t>
            </a:r>
          </a:p>
          <a:p>
            <a:r>
              <a:rPr lang="en-US" sz="2000" dirty="0"/>
              <a:t>Cholesterol</a:t>
            </a:r>
          </a:p>
          <a:p>
            <a:r>
              <a:rPr lang="en-US" sz="2000" dirty="0"/>
              <a:t>Blood Pressure</a:t>
            </a:r>
          </a:p>
          <a:p>
            <a:r>
              <a:rPr lang="en-US" sz="2000" dirty="0"/>
              <a:t>BMI</a:t>
            </a:r>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699" y="1349375"/>
            <a:ext cx="11788451" cy="5024548"/>
          </a:xfrm>
        </p:spPr>
        <p:txBody>
          <a:bodyPr vert="horz" lIns="91440" tIns="45720" rIns="91440" bIns="45720" rtlCol="0">
            <a:noAutofit/>
          </a:bodyPr>
          <a:lstStyle/>
          <a:p>
            <a:pPr marL="0" indent="0">
              <a:buNone/>
            </a:pPr>
            <a:r>
              <a:rPr lang="en-US" sz="2200" dirty="0"/>
              <a:t>This project focuses on data analytics and visualization rather than predictive modeling.</a:t>
            </a:r>
          </a:p>
          <a:p>
            <a:r>
              <a:rPr lang="en-US" sz="2200" b="1" dirty="0"/>
              <a:t>Data Input</a:t>
            </a:r>
            <a:endParaRPr lang="en-US" sz="2200" dirty="0"/>
          </a:p>
          <a:p>
            <a:pPr lvl="1"/>
            <a:r>
              <a:rPr lang="en-US" sz="2200" dirty="0"/>
              <a:t>The dataset contains patient health information used to analyze risk patterns.</a:t>
            </a:r>
          </a:p>
          <a:p>
            <a:r>
              <a:rPr lang="en-US" sz="2200" b="1" dirty="0"/>
              <a:t>Analysis Process</a:t>
            </a:r>
            <a:endParaRPr lang="en-US" sz="2200" dirty="0"/>
          </a:p>
          <a:p>
            <a:pPr lvl="1"/>
            <a:r>
              <a:rPr lang="en-US" sz="2200" dirty="0"/>
              <a:t>Data is imported into Power BI and analyzed using DAX calculations and visual analytics techniques.</a:t>
            </a:r>
          </a:p>
          <a:p>
            <a:pPr lvl="1"/>
            <a:r>
              <a:rPr lang="en-US" sz="2200" dirty="0"/>
              <a:t>Measures such as total patients and high-risk patients are calculated.</a:t>
            </a:r>
          </a:p>
          <a:p>
            <a:r>
              <a:rPr lang="en-US" sz="2200" b="1" dirty="0"/>
              <a:t>Visualization</a:t>
            </a:r>
            <a:endParaRPr lang="en-US" sz="2200" dirty="0"/>
          </a:p>
          <a:p>
            <a:pPr lvl="1"/>
            <a:r>
              <a:rPr lang="en-US" sz="2200" dirty="0"/>
              <a:t>Several charts are used for analysis including:</a:t>
            </a:r>
          </a:p>
          <a:p>
            <a:pPr lvl="1"/>
            <a:r>
              <a:rPr lang="en-US" sz="2200" dirty="0"/>
              <a:t>Smoking vs Heart Attack Risk</a:t>
            </a:r>
          </a:p>
          <a:p>
            <a:pPr lvl="1"/>
            <a:r>
              <a:rPr lang="en-US" sz="2200" dirty="0"/>
              <a:t>Exercise vs Risk</a:t>
            </a:r>
          </a:p>
          <a:p>
            <a:pPr lvl="1"/>
            <a:r>
              <a:rPr lang="en-US" sz="2200" dirty="0"/>
              <a:t>Cholesterol vs Heart Rate</a:t>
            </a:r>
          </a:p>
          <a:p>
            <a:pPr lvl="1"/>
            <a:r>
              <a:rPr lang="en-US" sz="2200" dirty="0"/>
              <a:t>BMI vs Risk</a:t>
            </a:r>
          </a:p>
          <a:p>
            <a:pPr lvl="1"/>
            <a:r>
              <a:rPr lang="en-US" sz="2200" dirty="0"/>
              <a:t>Blood Pressure Distribution</a:t>
            </a:r>
          </a:p>
        </p:txBody>
      </p:sp>
      <p:sp>
        <p:nvSpPr>
          <p:cNvPr id="4" name="Content Placeholder 2">
            <a:extLst>
              <a:ext uri="{FF2B5EF4-FFF2-40B4-BE49-F238E27FC236}">
                <a16:creationId xmlns:a16="http://schemas.microsoft.com/office/drawing/2014/main" id="{CC90BF7A-8445-9E35-BEE7-2F8F81676D28}"/>
              </a:ext>
            </a:extLst>
          </p:cNvPr>
          <p:cNvSpPr txBox="1">
            <a:spLocks/>
          </p:cNvSpPr>
          <p:nvPr/>
        </p:nvSpPr>
        <p:spPr>
          <a:xfrm>
            <a:off x="6657975" y="4565740"/>
            <a:ext cx="5534025" cy="1885769"/>
          </a:xfr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200" dirty="0"/>
          </a:p>
          <a:p>
            <a:r>
              <a:rPr lang="en-US" sz="2200" b="1" dirty="0"/>
              <a:t>Deployment</a:t>
            </a:r>
            <a:endParaRPr lang="en-US" sz="2200" dirty="0"/>
          </a:p>
          <a:p>
            <a:pPr marL="457200" lvl="1" indent="0">
              <a:buNone/>
            </a:pPr>
            <a:r>
              <a:rPr lang="en-US" sz="2200" dirty="0"/>
              <a:t>The dashboard can be shared using:</a:t>
            </a:r>
          </a:p>
          <a:p>
            <a:pPr lvl="1"/>
            <a:r>
              <a:rPr lang="en-US" sz="2200" dirty="0"/>
              <a:t>Power BI Desktop</a:t>
            </a:r>
            <a:br>
              <a:rPr lang="en-US" sz="2200" dirty="0"/>
            </a:br>
            <a:r>
              <a:rPr lang="en-US" sz="2200" dirty="0"/>
              <a:t>Power BI Service for online reporting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pPr marL="0" indent="0" algn="just">
              <a:buNone/>
            </a:pPr>
            <a:r>
              <a:rPr lang="en-US" sz="2400" dirty="0"/>
              <a:t>The dashboard successfully visualizes important health factors related to heart attack risk.</a:t>
            </a:r>
          </a:p>
          <a:p>
            <a:pPr algn="just"/>
            <a:r>
              <a:rPr lang="en-US" sz="2400" dirty="0"/>
              <a:t>Key insights obtained from the dashboard include:</a:t>
            </a:r>
          </a:p>
          <a:p>
            <a:pPr lvl="1" algn="just"/>
            <a:r>
              <a:rPr lang="en-US" dirty="0"/>
              <a:t>High cholesterol levels are associated with increased heart attack risk.</a:t>
            </a:r>
          </a:p>
          <a:p>
            <a:pPr lvl="1" algn="just"/>
            <a:r>
              <a:rPr lang="en-US" dirty="0"/>
              <a:t>Smoking habits significantly increase the likelihood of heart disease.</a:t>
            </a:r>
          </a:p>
          <a:p>
            <a:pPr lvl="1" algn="just"/>
            <a:r>
              <a:rPr lang="en-US" dirty="0"/>
              <a:t>Patients with higher stress levels show greater risk patterns.</a:t>
            </a:r>
          </a:p>
          <a:p>
            <a:pPr lvl="1" algn="just"/>
            <a:r>
              <a:rPr lang="en-US" dirty="0"/>
              <a:t>Overweight and obese BMI categories have higher heart attack probability.</a:t>
            </a:r>
          </a:p>
          <a:p>
            <a:pPr marL="0" indent="0" algn="just">
              <a:buNone/>
            </a:pPr>
            <a:r>
              <a:rPr lang="en-US" sz="2400" dirty="0"/>
              <a:t>The interactive dashboard allows users to explore patient health data using filters and visual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CA3146-F8EE-160D-F4D4-41DCA89D4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07A4E-940C-F820-3144-ED2D5FDEF432}"/>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Screenshot:</a:t>
            </a:r>
            <a:endParaRPr lang="en-US" sz="4000" dirty="0"/>
          </a:p>
        </p:txBody>
      </p:sp>
      <p:sp>
        <p:nvSpPr>
          <p:cNvPr id="5" name="Content Placeholder 4">
            <a:extLst>
              <a:ext uri="{FF2B5EF4-FFF2-40B4-BE49-F238E27FC236}">
                <a16:creationId xmlns:a16="http://schemas.microsoft.com/office/drawing/2014/main" id="{148D9676-354E-C1A1-19CD-CCF5D4EF32B3}"/>
              </a:ext>
            </a:extLst>
          </p:cNvPr>
          <p:cNvSpPr>
            <a:spLocks noGrp="1"/>
          </p:cNvSpPr>
          <p:nvPr>
            <p:ph idx="1"/>
          </p:nvPr>
        </p:nvSpPr>
        <p:spPr/>
        <p:txBody>
          <a:bodyPr/>
          <a:lstStyle/>
          <a:p>
            <a:pPr marL="0" indent="0">
              <a:buNone/>
            </a:pPr>
            <a:r>
              <a:rPr lang="en-US" dirty="0"/>
              <a:t> </a:t>
            </a:r>
          </a:p>
        </p:txBody>
      </p:sp>
      <p:pic>
        <p:nvPicPr>
          <p:cNvPr id="7" name="Picture 6">
            <a:extLst>
              <a:ext uri="{FF2B5EF4-FFF2-40B4-BE49-F238E27FC236}">
                <a16:creationId xmlns:a16="http://schemas.microsoft.com/office/drawing/2014/main" id="{45BACB5F-E0BA-C738-6DAD-350786246FD2}"/>
              </a:ext>
            </a:extLst>
          </p:cNvPr>
          <p:cNvPicPr>
            <a:picLocks noChangeAspect="1"/>
          </p:cNvPicPr>
          <p:nvPr/>
        </p:nvPicPr>
        <p:blipFill>
          <a:blip r:embed="rId2"/>
          <a:srcRect l="628" t="859"/>
          <a:stretch>
            <a:fillRect/>
          </a:stretch>
        </p:blipFill>
        <p:spPr>
          <a:xfrm>
            <a:off x="1315616" y="1194318"/>
            <a:ext cx="9621621" cy="5387004"/>
          </a:xfrm>
          <a:prstGeom prst="rect">
            <a:avLst/>
          </a:prstGeom>
        </p:spPr>
      </p:pic>
    </p:spTree>
    <p:extLst>
      <p:ext uri="{BB962C8B-B14F-4D97-AF65-F5344CB8AC3E}">
        <p14:creationId xmlns:p14="http://schemas.microsoft.com/office/powerpoint/2010/main" val="129425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01F4C7-26F5-470F-135E-BC66CC60B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88043-0D0A-ECBB-D685-ABEB2F893EA2}"/>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Screenshot:</a:t>
            </a:r>
            <a:endParaRPr lang="en-US" sz="4000" dirty="0"/>
          </a:p>
        </p:txBody>
      </p:sp>
      <p:sp>
        <p:nvSpPr>
          <p:cNvPr id="5" name="Content Placeholder 4">
            <a:extLst>
              <a:ext uri="{FF2B5EF4-FFF2-40B4-BE49-F238E27FC236}">
                <a16:creationId xmlns:a16="http://schemas.microsoft.com/office/drawing/2014/main" id="{9606FDA9-A39B-B708-C105-4FA6EBCE2A2B}"/>
              </a:ext>
            </a:extLst>
          </p:cNvPr>
          <p:cNvSpPr>
            <a:spLocks noGrp="1"/>
          </p:cNvSpPr>
          <p:nvPr>
            <p:ph idx="1"/>
          </p:nvPr>
        </p:nvSpPr>
        <p:spPr/>
        <p:txBody>
          <a:bodyPr/>
          <a:lstStyle/>
          <a:p>
            <a:pPr marL="0" indent="0">
              <a:buNone/>
            </a:pPr>
            <a:r>
              <a:rPr lang="en-US" dirty="0"/>
              <a:t> </a:t>
            </a:r>
          </a:p>
        </p:txBody>
      </p:sp>
      <p:pic>
        <p:nvPicPr>
          <p:cNvPr id="7" name="Picture 6">
            <a:extLst>
              <a:ext uri="{FF2B5EF4-FFF2-40B4-BE49-F238E27FC236}">
                <a16:creationId xmlns:a16="http://schemas.microsoft.com/office/drawing/2014/main" id="{921C9DE9-3116-F5CF-8BA8-4B4E8F1FA5F9}"/>
              </a:ext>
            </a:extLst>
          </p:cNvPr>
          <p:cNvPicPr>
            <a:picLocks noChangeAspect="1"/>
          </p:cNvPicPr>
          <p:nvPr/>
        </p:nvPicPr>
        <p:blipFill>
          <a:blip r:embed="rId2"/>
          <a:srcRect l="48" r="499"/>
          <a:stretch>
            <a:fillRect/>
          </a:stretch>
        </p:blipFill>
        <p:spPr>
          <a:xfrm>
            <a:off x="1268963" y="1266031"/>
            <a:ext cx="9610531" cy="5404573"/>
          </a:xfrm>
          <a:prstGeom prst="rect">
            <a:avLst/>
          </a:prstGeom>
        </p:spPr>
      </p:pic>
    </p:spTree>
    <p:extLst>
      <p:ext uri="{BB962C8B-B14F-4D97-AF65-F5344CB8AC3E}">
        <p14:creationId xmlns:p14="http://schemas.microsoft.com/office/powerpoint/2010/main" val="3093986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92457F-7085-58D7-DDCE-EF9A899CD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B9505C-D4A9-BFC6-6294-57CB17C771DF}"/>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Screenshot:</a:t>
            </a:r>
            <a:endParaRPr lang="en-US" sz="4000" dirty="0"/>
          </a:p>
        </p:txBody>
      </p:sp>
      <p:sp>
        <p:nvSpPr>
          <p:cNvPr id="5" name="Content Placeholder 4">
            <a:extLst>
              <a:ext uri="{FF2B5EF4-FFF2-40B4-BE49-F238E27FC236}">
                <a16:creationId xmlns:a16="http://schemas.microsoft.com/office/drawing/2014/main" id="{9CEB69ED-054E-E032-86A6-BFAB93A391ED}"/>
              </a:ext>
            </a:extLst>
          </p:cNvPr>
          <p:cNvSpPr>
            <a:spLocks noGrp="1"/>
          </p:cNvSpPr>
          <p:nvPr>
            <p:ph idx="1"/>
          </p:nvPr>
        </p:nvSpPr>
        <p:spPr/>
        <p:txBody>
          <a:bodyPr/>
          <a:lstStyle/>
          <a:p>
            <a:pPr marL="0" indent="0">
              <a:buNone/>
            </a:pPr>
            <a:r>
              <a:rPr lang="en-US" dirty="0"/>
              <a:t> </a:t>
            </a:r>
          </a:p>
        </p:txBody>
      </p:sp>
      <p:pic>
        <p:nvPicPr>
          <p:cNvPr id="7" name="Picture 6">
            <a:extLst>
              <a:ext uri="{FF2B5EF4-FFF2-40B4-BE49-F238E27FC236}">
                <a16:creationId xmlns:a16="http://schemas.microsoft.com/office/drawing/2014/main" id="{548FD839-2ACC-6631-7F0E-658E2EF94FB9}"/>
              </a:ext>
            </a:extLst>
          </p:cNvPr>
          <p:cNvPicPr>
            <a:picLocks noChangeAspect="1"/>
          </p:cNvPicPr>
          <p:nvPr/>
        </p:nvPicPr>
        <p:blipFill>
          <a:blip r:embed="rId2"/>
          <a:srcRect l="390"/>
          <a:stretch>
            <a:fillRect/>
          </a:stretch>
        </p:blipFill>
        <p:spPr>
          <a:xfrm>
            <a:off x="1181334" y="1073020"/>
            <a:ext cx="9829331" cy="5527511"/>
          </a:xfrm>
          <a:prstGeom prst="rect">
            <a:avLst/>
          </a:prstGeom>
        </p:spPr>
      </p:pic>
    </p:spTree>
    <p:extLst>
      <p:ext uri="{BB962C8B-B14F-4D97-AF65-F5344CB8AC3E}">
        <p14:creationId xmlns:p14="http://schemas.microsoft.com/office/powerpoint/2010/main" val="42346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0311"/>
            <a:ext cx="10515600" cy="1325563"/>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Heart Attack Risk Analysis Dashboard provides an effective way to analyze healthcare data and identify important health risk factors.</a:t>
            </a:r>
          </a:p>
          <a:p>
            <a:r>
              <a:rPr lang="en-US" sz="2400" dirty="0"/>
              <a:t>By transforming complex datasets into clear visualizations, the dashboard helps users understand how different medical and lifestyle factors influence heart attack risk.</a:t>
            </a:r>
          </a:p>
          <a:p>
            <a:r>
              <a:rPr lang="en-US" sz="2400" dirty="0"/>
              <a:t>This project demonstrates how data analytics tools like Power BI can support healthcare data analysis and improve understanding of disease risk patterns.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buNone/>
            </a:pPr>
            <a:r>
              <a:rPr lang="en-US" sz="2400" dirty="0"/>
              <a:t>The project can be improved in several ways:</a:t>
            </a:r>
          </a:p>
          <a:p>
            <a:pPr lvl="1"/>
            <a:r>
              <a:rPr lang="en-US" dirty="0"/>
              <a:t>Integrating larger healthcare datasets</a:t>
            </a:r>
          </a:p>
          <a:p>
            <a:pPr lvl="1"/>
            <a:r>
              <a:rPr lang="en-US" dirty="0"/>
              <a:t>Adding real-time health monitoring data</a:t>
            </a:r>
          </a:p>
          <a:p>
            <a:pPr lvl="1"/>
            <a:r>
              <a:rPr lang="en-US" dirty="0"/>
              <a:t>Developing predictive models for heart attack risk</a:t>
            </a:r>
          </a:p>
          <a:p>
            <a:pPr lvl="1"/>
            <a:r>
              <a:rPr lang="en-US" dirty="0"/>
              <a:t>Creating a web-based healthcare analytics system</a:t>
            </a:r>
          </a:p>
          <a:p>
            <a:pPr lvl="1"/>
            <a:r>
              <a:rPr lang="en-US" dirty="0"/>
              <a:t>Expanding analysis for multiple diseases</a:t>
            </a:r>
          </a:p>
          <a:p>
            <a:pPr lvl="1"/>
            <a:endParaRPr lang="en-US" dirty="0"/>
          </a:p>
          <a:p>
            <a:pPr marL="0" indent="0">
              <a:buNone/>
            </a:pPr>
            <a:r>
              <a:rPr lang="en-US" sz="2400" dirty="0"/>
              <a:t>These improvements could enhance the system’s ability to support healthcare research and decision-making.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US" sz="2400" dirty="0"/>
              <a:t>Kaggle Dataset</a:t>
            </a:r>
            <a:br>
              <a:rPr lang="en-US" sz="2400" dirty="0"/>
            </a:br>
            <a:r>
              <a:rPr lang="en-US" sz="2400" dirty="0"/>
              <a:t>Heart Attack Prediction Dataset</a:t>
            </a:r>
            <a:br>
              <a:rPr lang="en-US" sz="2400" dirty="0"/>
            </a:br>
            <a:r>
              <a:rPr lang="en-US" sz="2400" dirty="0">
                <a:hlinkClick r:id="rId2"/>
              </a:rPr>
              <a:t>https://www.kaggle.com/datasets/iamsouravbanerjee/heart-attack-prediction-dataset</a:t>
            </a:r>
            <a:endParaRPr lang="en-US" sz="2400" dirty="0"/>
          </a:p>
          <a:p>
            <a:r>
              <a:rPr lang="en-US" sz="2400" dirty="0"/>
              <a:t>Microsoft Power BI Documentation</a:t>
            </a:r>
            <a:br>
              <a:rPr lang="en-US" sz="2400" dirty="0"/>
            </a:br>
            <a:r>
              <a:rPr lang="en-US" sz="2400" dirty="0">
                <a:hlinkClick r:id="rId3"/>
              </a:rPr>
              <a:t>https://learn.microsoft.com/power-bi/</a:t>
            </a:r>
            <a:endParaRPr lang="en-US" sz="2400" dirty="0"/>
          </a:p>
          <a:p>
            <a:r>
              <a:rPr lang="en-US" sz="2400" dirty="0"/>
              <a:t>Healthcare analytics research articles.</a:t>
            </a:r>
          </a:p>
          <a:p>
            <a:pPr marL="0" indent="0">
              <a:buNone/>
            </a:pPr>
            <a:r>
              <a:rPr lang="en-IN" sz="2200" dirty="0">
                <a:latin typeface="Franklin Gothic Book" panose="020B0503020102020204"/>
              </a:rPr>
              <a:t>GitHub Link:</a:t>
            </a:r>
            <a:r>
              <a:rPr lang="en-US" sz="2400" dirty="0" err="1">
                <a:hlinkClick r:id="rId4"/>
              </a:rPr>
              <a:t>Github</a:t>
            </a:r>
            <a:r>
              <a:rPr lang="en-US" sz="2400" dirty="0">
                <a:hlinkClick r:id="rId4"/>
              </a:rPr>
              <a:t> Link</a:t>
            </a: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728</Words>
  <Application>Microsoft Office PowerPoint</Application>
  <PresentationFormat>Widescreen</PresentationFormat>
  <Paragraphs>103</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Screenshot:</vt:lpstr>
      <vt:lpstr>Screenshot:</vt:lpstr>
      <vt:lpstr>Screenshot: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Krushna Rathod</cp:lastModifiedBy>
  <cp:revision>102</cp:revision>
  <dcterms:created xsi:type="dcterms:W3CDTF">2024-05-21T11:55:00Z</dcterms:created>
  <dcterms:modified xsi:type="dcterms:W3CDTF">2026-03-15T08:50:10Z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